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400" r:id="rId2"/>
    <p:sldId id="424" r:id="rId3"/>
    <p:sldId id="283" r:id="rId4"/>
    <p:sldId id="362" r:id="rId5"/>
    <p:sldId id="425" r:id="rId6"/>
    <p:sldId id="282" r:id="rId7"/>
    <p:sldId id="401" r:id="rId8"/>
    <p:sldId id="411" r:id="rId9"/>
    <p:sldId id="426" r:id="rId10"/>
    <p:sldId id="42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EF17F8-1941-4A01-89C4-CA81287ADCE6}" v="1" dt="2025-07-09T06:43:02.941"/>
    <p1510:client id="{D8D1B3C2-B625-47E9-ADC6-CD01A62A6A9B}" v="1" dt="2025-07-09T06:46:31.4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5" d="100"/>
          <a:sy n="75" d="100"/>
        </p:scale>
        <p:origin x="1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jolein de Jong" userId="00349200-a54b-4a61-ab9a-d959590d6c33" providerId="ADAL" clId="{D8D1B3C2-B625-47E9-ADC6-CD01A62A6A9B}"/>
    <pc:docChg chg="custSel addSld modSld sldOrd">
      <pc:chgData name="Marjolein de Jong" userId="00349200-a54b-4a61-ab9a-d959590d6c33" providerId="ADAL" clId="{D8D1B3C2-B625-47E9-ADC6-CD01A62A6A9B}" dt="2025-07-09T06:46:47.165" v="3"/>
      <pc:docMkLst>
        <pc:docMk/>
      </pc:docMkLst>
      <pc:sldChg chg="add">
        <pc:chgData name="Marjolein de Jong" userId="00349200-a54b-4a61-ab9a-d959590d6c33" providerId="ADAL" clId="{D8D1B3C2-B625-47E9-ADC6-CD01A62A6A9B}" dt="2025-07-09T06:46:31.427" v="0"/>
        <pc:sldMkLst>
          <pc:docMk/>
          <pc:sldMk cId="4200918746" sldId="282"/>
        </pc:sldMkLst>
      </pc:sldChg>
      <pc:sldChg chg="add">
        <pc:chgData name="Marjolein de Jong" userId="00349200-a54b-4a61-ab9a-d959590d6c33" providerId="ADAL" clId="{D8D1B3C2-B625-47E9-ADC6-CD01A62A6A9B}" dt="2025-07-09T06:46:31.427" v="0"/>
        <pc:sldMkLst>
          <pc:docMk/>
          <pc:sldMk cId="3732775844" sldId="283"/>
        </pc:sldMkLst>
      </pc:sldChg>
      <pc:sldChg chg="add">
        <pc:chgData name="Marjolein de Jong" userId="00349200-a54b-4a61-ab9a-d959590d6c33" providerId="ADAL" clId="{D8D1B3C2-B625-47E9-ADC6-CD01A62A6A9B}" dt="2025-07-09T06:46:31.427" v="0"/>
        <pc:sldMkLst>
          <pc:docMk/>
          <pc:sldMk cId="3907294056" sldId="362"/>
        </pc:sldMkLst>
      </pc:sldChg>
      <pc:sldChg chg="add">
        <pc:chgData name="Marjolein de Jong" userId="00349200-a54b-4a61-ab9a-d959590d6c33" providerId="ADAL" clId="{D8D1B3C2-B625-47E9-ADC6-CD01A62A6A9B}" dt="2025-07-09T06:46:31.427" v="0"/>
        <pc:sldMkLst>
          <pc:docMk/>
          <pc:sldMk cId="3929211343" sldId="400"/>
        </pc:sldMkLst>
      </pc:sldChg>
      <pc:sldChg chg="add">
        <pc:chgData name="Marjolein de Jong" userId="00349200-a54b-4a61-ab9a-d959590d6c33" providerId="ADAL" clId="{D8D1B3C2-B625-47E9-ADC6-CD01A62A6A9B}" dt="2025-07-09T06:46:31.427" v="0"/>
        <pc:sldMkLst>
          <pc:docMk/>
          <pc:sldMk cId="3853302583" sldId="401"/>
        </pc:sldMkLst>
      </pc:sldChg>
      <pc:sldChg chg="add">
        <pc:chgData name="Marjolein de Jong" userId="00349200-a54b-4a61-ab9a-d959590d6c33" providerId="ADAL" clId="{D8D1B3C2-B625-47E9-ADC6-CD01A62A6A9B}" dt="2025-07-09T06:46:31.427" v="0"/>
        <pc:sldMkLst>
          <pc:docMk/>
          <pc:sldMk cId="1292845722" sldId="411"/>
        </pc:sldMkLst>
      </pc:sldChg>
      <pc:sldChg chg="ord">
        <pc:chgData name="Marjolein de Jong" userId="00349200-a54b-4a61-ab9a-d959590d6c33" providerId="ADAL" clId="{D8D1B3C2-B625-47E9-ADC6-CD01A62A6A9B}" dt="2025-07-09T06:46:47.165" v="3"/>
        <pc:sldMkLst>
          <pc:docMk/>
          <pc:sldMk cId="2497919692" sldId="421"/>
        </pc:sldMkLst>
      </pc:sldChg>
      <pc:sldChg chg="modSp add mod">
        <pc:chgData name="Marjolein de Jong" userId="00349200-a54b-4a61-ab9a-d959590d6c33" providerId="ADAL" clId="{D8D1B3C2-B625-47E9-ADC6-CD01A62A6A9B}" dt="2025-07-09T06:46:31.664" v="1" actId="27636"/>
        <pc:sldMkLst>
          <pc:docMk/>
          <pc:sldMk cId="2572927847" sldId="424"/>
        </pc:sldMkLst>
        <pc:spChg chg="mod">
          <ac:chgData name="Marjolein de Jong" userId="00349200-a54b-4a61-ab9a-d959590d6c33" providerId="ADAL" clId="{D8D1B3C2-B625-47E9-ADC6-CD01A62A6A9B}" dt="2025-07-09T06:46:31.664" v="1" actId="27636"/>
          <ac:spMkLst>
            <pc:docMk/>
            <pc:sldMk cId="2572927847" sldId="424"/>
            <ac:spMk id="8" creationId="{74585D06-E0B2-6735-AA5B-C627BEF5ABEF}"/>
          </ac:spMkLst>
        </pc:spChg>
      </pc:sldChg>
      <pc:sldChg chg="add">
        <pc:chgData name="Marjolein de Jong" userId="00349200-a54b-4a61-ab9a-d959590d6c33" providerId="ADAL" clId="{D8D1B3C2-B625-47E9-ADC6-CD01A62A6A9B}" dt="2025-07-09T06:46:31.427" v="0"/>
        <pc:sldMkLst>
          <pc:docMk/>
          <pc:sldMk cId="3466288894" sldId="425"/>
        </pc:sldMkLst>
      </pc:sldChg>
      <pc:sldChg chg="add">
        <pc:chgData name="Marjolein de Jong" userId="00349200-a54b-4a61-ab9a-d959590d6c33" providerId="ADAL" clId="{D8D1B3C2-B625-47E9-ADC6-CD01A62A6A9B}" dt="2025-07-09T06:46:31.427" v="0"/>
        <pc:sldMkLst>
          <pc:docMk/>
          <pc:sldMk cId="3366334552" sldId="426"/>
        </pc:sldMkLst>
      </pc:sldChg>
    </pc:docChg>
  </pc:docChgLst>
  <pc:docChgLst>
    <pc:chgData name="Marjolein de Jong" userId="S::marjolein.de.jong@rivm.nl::00349200-a54b-4a61-ab9a-d959590d6c33" providerId="AD" clId="Web-{9BEF17F8-1941-4A01-89C4-CA81287ADCE6}"/>
    <pc:docChg chg="addSld">
      <pc:chgData name="Marjolein de Jong" userId="S::marjolein.de.jong@rivm.nl::00349200-a54b-4a61-ab9a-d959590d6c33" providerId="AD" clId="Web-{9BEF17F8-1941-4A01-89C4-CA81287ADCE6}" dt="2025-07-09T06:43:02.941" v="0"/>
      <pc:docMkLst>
        <pc:docMk/>
      </pc:docMkLst>
      <pc:sldChg chg="add">
        <pc:chgData name="Marjolein de Jong" userId="S::marjolein.de.jong@rivm.nl::00349200-a54b-4a61-ab9a-d959590d6c33" providerId="AD" clId="Web-{9BEF17F8-1941-4A01-89C4-CA81287ADCE6}" dt="2025-07-09T06:43:02.941" v="0"/>
        <pc:sldMkLst>
          <pc:docMk/>
          <pc:sldMk cId="2497919692" sldId="4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1F679-E10B-4DA7-A4A2-12FF45312B4E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DDB9B-7098-4974-8BA3-A74A8DAF2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80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3237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37871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4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9775" y="1844675"/>
            <a:ext cx="8172450" cy="456247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Recalculate the basic script for calcium, but:</a:t>
            </a:r>
          </a:p>
          <a:p>
            <a:pPr marL="0" indent="0">
              <a:buNone/>
            </a:pPr>
            <a:endParaRPr lang="en-US"/>
          </a:p>
          <a:p>
            <a:pPr>
              <a:buFont typeface="+mj-lt"/>
              <a:buAutoNum type="alphaLcParenR"/>
            </a:pPr>
            <a:endParaRPr lang="en-US" sz="400"/>
          </a:p>
          <a:p>
            <a:pPr marL="342900" indent="-342900">
              <a:buFont typeface="+mj-lt"/>
              <a:buAutoNum type="alphaLcParenR"/>
            </a:pPr>
            <a:r>
              <a:rPr lang="en-US"/>
              <a:t>Can you change the age classes in 1-13, 14-17, 18-50 and 51-79 </a:t>
            </a:r>
            <a:r>
              <a:rPr lang="en-US" err="1"/>
              <a:t>yrs</a:t>
            </a:r>
            <a:r>
              <a:rPr lang="en-US"/>
              <a:t>?</a:t>
            </a:r>
          </a:p>
          <a:p>
            <a:pPr marL="342900" indent="-342900">
              <a:buFont typeface="+mj-lt"/>
              <a:buAutoNum type="alphaLcParenR"/>
            </a:pPr>
            <a:r>
              <a:rPr lang="en-US"/>
              <a:t>Calculate in addition to the standard percentiles also the first and 99</a:t>
            </a:r>
            <a:r>
              <a:rPr lang="en-US" baseline="30000"/>
              <a:t>th</a:t>
            </a:r>
            <a:r>
              <a:rPr lang="en-US"/>
              <a:t> percentile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1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7AF54-BE9F-A130-1485-F7A5ED1BD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1-part model daily intakes (Manual, chapter 3)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6B21A5-9ECF-35E5-5309-7DED0467E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nl-NL"/>
              <a:t>SPADE course, July 8-9, 2025</a:t>
            </a:r>
          </a:p>
        </p:txBody>
      </p:sp>
    </p:spTree>
    <p:extLst>
      <p:ext uri="{BB962C8B-B14F-4D97-AF65-F5344CB8AC3E}">
        <p14:creationId xmlns:p14="http://schemas.microsoft.com/office/powerpoint/2010/main" val="392921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09EC5-CFA8-4F86-93F7-C3D5BE226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771" y="548681"/>
            <a:ext cx="8192691" cy="948047"/>
          </a:xfrm>
        </p:spPr>
        <p:txBody>
          <a:bodyPr/>
          <a:lstStyle/>
          <a:p>
            <a:r>
              <a:rPr lang="nl-NL" err="1"/>
              <a:t>Exercise</a:t>
            </a:r>
            <a:r>
              <a:rPr lang="nl-NL"/>
              <a:t>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BB3E6-882D-4E29-B65D-66654832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2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A1943-4586-3F94-B1AB-7280B26E1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1-part model daily intakes (Manual, chapter 3)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BA8D2-8409-F402-E0CE-4DD9CA5AB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nl-NL"/>
              <a:t>SPADE course, July 8-9, 2025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585D06-E0B2-6735-AA5B-C627BEF5A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0251" y="1916832"/>
            <a:ext cx="8192691" cy="4304582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417D46"/>
                </a:solidFill>
                <a:latin typeface="Consolas" panose="020B0609020204030204" pitchFamily="49" charset="0"/>
              </a:rPr>
              <a:t># 1-part model SPADE - </a:t>
            </a:r>
            <a:r>
              <a:rPr lang="nl-NL" sz="1800" err="1">
                <a:solidFill>
                  <a:srgbClr val="417D46"/>
                </a:solidFill>
                <a:latin typeface="Consolas" panose="020B0609020204030204" pitchFamily="49" charset="0"/>
              </a:rPr>
              <a:t>with</a:t>
            </a:r>
            <a:r>
              <a:rPr lang="nl-NL" sz="1800">
                <a:solidFill>
                  <a:srgbClr val="417D46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417D46"/>
                </a:solidFill>
                <a:latin typeface="Consolas" panose="020B0609020204030204" pitchFamily="49" charset="0"/>
              </a:rPr>
              <a:t>age</a:t>
            </a:r>
            <a:r>
              <a:rPr lang="nl-NL" sz="1800">
                <a:solidFill>
                  <a:srgbClr val="417D46"/>
                </a:solidFill>
                <a:latin typeface="Consolas" panose="020B0609020204030204" pitchFamily="49" charset="0"/>
              </a:rPr>
              <a:t> classes </a:t>
            </a:r>
            <a:r>
              <a:rPr lang="nl-NL" sz="1800" err="1">
                <a:solidFill>
                  <a:srgbClr val="417D46"/>
                </a:solidFill>
                <a:latin typeface="Consolas" panose="020B0609020204030204" pitchFamily="49" charset="0"/>
              </a:rPr>
              <a:t>and</a:t>
            </a:r>
            <a:r>
              <a:rPr lang="nl-NL" sz="1800">
                <a:solidFill>
                  <a:srgbClr val="417D46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417D46"/>
                </a:solidFill>
                <a:latin typeface="Consolas" panose="020B0609020204030204" pitchFamily="49" charset="0"/>
              </a:rPr>
              <a:t>percentiles</a:t>
            </a:r>
            <a:endParaRPr lang="nl-NL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f.spade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frml.ia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= ca </a:t>
            </a:r>
            <a:r>
              <a:rPr lang="nl-NL" sz="1800">
                <a:solidFill>
                  <a:srgbClr val="A56423"/>
                </a:solidFill>
                <a:latin typeface="Consolas" panose="020B0609020204030204" pitchFamily="49" charset="0"/>
              </a:rPr>
              <a:t>~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fp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age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frml.if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NL" sz="1800">
                <a:solidFill>
                  <a:srgbClr val="4141AF"/>
                </a:solidFill>
                <a:latin typeface="Consolas" panose="020B0609020204030204" pitchFamily="49" charset="0"/>
              </a:rPr>
              <a:t>"</a:t>
            </a:r>
            <a:r>
              <a:rPr lang="nl-NL" sz="1800" err="1">
                <a:solidFill>
                  <a:srgbClr val="4141AF"/>
                </a:solidFill>
                <a:latin typeface="Consolas" panose="020B0609020204030204" pitchFamily="49" charset="0"/>
              </a:rPr>
              <a:t>no.if</a:t>
            </a:r>
            <a:r>
              <a:rPr lang="nl-NL" sz="1800">
                <a:solidFill>
                  <a:srgbClr val="4141AF"/>
                </a:solidFill>
                <a:latin typeface="Consolas" panose="020B0609020204030204" pitchFamily="49" charset="0"/>
              </a:rPr>
              <a:t>"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data    =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DNFCSmanual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min.age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1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max.age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79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sex.label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  = </a:t>
            </a:r>
            <a:r>
              <a:rPr lang="nl-NL" sz="1800">
                <a:solidFill>
                  <a:srgbClr val="4141AF"/>
                </a:solidFill>
                <a:latin typeface="Consolas" panose="020B0609020204030204" pitchFamily="49" charset="0"/>
              </a:rPr>
              <a:t>"</a:t>
            </a:r>
            <a:r>
              <a:rPr lang="nl-NL" sz="1800" err="1">
                <a:solidFill>
                  <a:srgbClr val="4141AF"/>
                </a:solidFill>
                <a:latin typeface="Consolas" panose="020B0609020204030204" pitchFamily="49" charset="0"/>
              </a:rPr>
              <a:t>female</a:t>
            </a:r>
            <a:r>
              <a:rPr lang="nl-NL" sz="1800">
                <a:solidFill>
                  <a:srgbClr val="4141AF"/>
                </a:solidFill>
                <a:latin typeface="Consolas" panose="020B0609020204030204" pitchFamily="49" charset="0"/>
              </a:rPr>
              <a:t>"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age.classes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= c(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0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13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17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50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79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prb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        = c(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1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5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10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25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50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75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90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95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99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nl-NL" sz="1800">
                <a:solidFill>
                  <a:srgbClr val="A56423"/>
                </a:solidFill>
                <a:latin typeface="Consolas" panose="020B0609020204030204" pitchFamily="49" charset="0"/>
              </a:rPr>
              <a:t>/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100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seed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       =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29062025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output.name = </a:t>
            </a:r>
            <a:r>
              <a:rPr lang="nl-NL" sz="1800">
                <a:solidFill>
                  <a:srgbClr val="4141AF"/>
                </a:solidFill>
                <a:latin typeface="Consolas" panose="020B0609020204030204" pitchFamily="49" charset="0"/>
              </a:rPr>
              <a:t>"spade_DNFCSmanual_ca_f_1_79_agecl"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spade.output.path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NL" sz="1800">
                <a:solidFill>
                  <a:srgbClr val="4141AF"/>
                </a:solidFill>
                <a:latin typeface="Consolas" panose="020B0609020204030204" pitchFamily="49" charset="0"/>
              </a:rPr>
              <a:t>"0_SPADE_output"</a:t>
            </a:r>
            <a:endParaRPr lang="nl-NL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>
                <a:solidFill>
                  <a:srgbClr val="417D46"/>
                </a:solidFill>
                <a:latin typeface="Consolas" panose="020B0609020204030204" pitchFamily="49" charset="0"/>
              </a:rPr>
              <a:t># Since we work in “…/", the output</a:t>
            </a:r>
            <a:br>
              <a:rPr lang="en-US" sz="1800">
                <a:solidFill>
                  <a:srgbClr val="417D46"/>
                </a:solidFill>
                <a:latin typeface="Consolas" panose="020B0609020204030204" pitchFamily="49" charset="0"/>
              </a:rPr>
            </a:br>
            <a:r>
              <a:rPr lang="en-US">
                <a:solidFill>
                  <a:srgbClr val="417D46"/>
                </a:solidFill>
                <a:latin typeface="Consolas" panose="020B0609020204030204" pitchFamily="49" charset="0"/>
              </a:rPr>
              <a:t># will come in </a:t>
            </a:r>
            <a:r>
              <a:rPr lang="en-US" sz="1800">
                <a:solidFill>
                  <a:srgbClr val="417D46"/>
                </a:solidFill>
                <a:latin typeface="Consolas" panose="020B0609020204030204" pitchFamily="49" charset="0"/>
              </a:rPr>
              <a:t>“…</a:t>
            </a:r>
            <a:r>
              <a:rPr lang="en-US">
                <a:solidFill>
                  <a:srgbClr val="417D46"/>
                </a:solidFill>
                <a:latin typeface="Consolas" panose="020B0609020204030204" pitchFamily="49" charset="0"/>
              </a:rPr>
              <a:t>/</a:t>
            </a:r>
            <a:r>
              <a:rPr lang="nl-NL">
                <a:solidFill>
                  <a:srgbClr val="417D46"/>
                </a:solidFill>
                <a:latin typeface="Consolas" panose="020B0609020204030204" pitchFamily="49" charset="0"/>
              </a:rPr>
              <a:t>0_SPADE_output/</a:t>
            </a:r>
            <a:r>
              <a:rPr lang="en-US" sz="1800">
                <a:solidFill>
                  <a:srgbClr val="417D46"/>
                </a:solidFill>
                <a:latin typeface="Consolas" panose="020B0609020204030204" pitchFamily="49" charset="0"/>
              </a:rPr>
              <a:t>"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2927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3</a:t>
            </a:fld>
            <a:endParaRPr lang="nl-NL"/>
          </a:p>
        </p:txBody>
      </p:sp>
      <p:sp>
        <p:nvSpPr>
          <p:cNvPr id="3" name="TextBox 2"/>
          <p:cNvSpPr txBox="1"/>
          <p:nvPr/>
        </p:nvSpPr>
        <p:spPr>
          <a:xfrm>
            <a:off x="2020887" y="1844824"/>
            <a:ext cx="8437115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spade output table for  ca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AM  P1  P5 P10 P25 P50  P75  P90  P95  P99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(0,79]  820 325 434 500 626 792  983 1179 1306 1562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(0,13]  706 289 384 440 545 683  841 1003 1107 1331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(13,17] 777 332 433 494 608 753  919 1090 1199 1421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(17,50] 890 391 504 573 701 866 1051 1240 1365 1615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(50,79] 952 434 552 624 761 928 1119 1312 1436 1686</a:t>
            </a:r>
          </a:p>
          <a:p>
            <a:endParaRPr lang="nl-NL" sz="1200" i="1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6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 </a:t>
            </a:r>
            <a:r>
              <a:rPr lang="nl-NL" sz="160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only</a:t>
            </a:r>
            <a:r>
              <a:rPr lang="nl-NL" sz="16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presented</a:t>
            </a:r>
            <a:r>
              <a:rPr lang="nl-NL" sz="16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nl-NL" sz="160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age-groups</a:t>
            </a:r>
            <a:r>
              <a:rPr lang="nl-NL" sz="16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nl-NL" sz="160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defined</a:t>
            </a:r>
            <a:r>
              <a:rPr lang="nl-NL" sz="16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9-13, 14-17 </a:t>
            </a:r>
            <a:r>
              <a:rPr lang="nl-NL" sz="160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nl-NL" sz="16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18-30 </a:t>
            </a:r>
            <a:r>
              <a:rPr lang="nl-NL" sz="160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yr</a:t>
            </a:r>
            <a:endParaRPr lang="nl-NL" sz="16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6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 overall </a:t>
            </a:r>
            <a:r>
              <a:rPr lang="nl-NL" sz="160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nl-NL" sz="16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</a:t>
            </a:r>
            <a:r>
              <a:rPr lang="nl-NL" sz="16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1-79 </a:t>
            </a:r>
            <a:r>
              <a:rPr lang="nl-NL" sz="160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yr</a:t>
            </a:r>
            <a:endParaRPr lang="nl-NL" sz="16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60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Percentiles</a:t>
            </a:r>
            <a:r>
              <a:rPr lang="nl-NL" sz="16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P1 </a:t>
            </a:r>
            <a:r>
              <a:rPr lang="nl-NL" sz="160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nl-NL" sz="16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P99 are </a:t>
            </a:r>
            <a:r>
              <a:rPr lang="nl-NL" sz="160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also</a:t>
            </a:r>
            <a:r>
              <a:rPr lang="nl-NL" sz="16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shown</a:t>
            </a:r>
            <a:endParaRPr lang="nl-NL" sz="16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Did you keep the </a:t>
            </a:r>
            <a:r>
              <a:rPr lang="en-US" sz="160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min.age</a:t>
            </a:r>
            <a:r>
              <a:rPr lang="en-US" sz="16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US" sz="160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max.age</a:t>
            </a:r>
            <a:r>
              <a:rPr lang="en-US" sz="16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on 1 and 79 y, respectively?</a:t>
            </a:r>
          </a:p>
          <a:p>
            <a:r>
              <a:rPr lang="en-US" sz="16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Did you use output.name to compare the results to the results from basic script?</a:t>
            </a:r>
          </a:p>
          <a:p>
            <a:r>
              <a:rPr lang="en-US" sz="16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you see the row with all the intakes ([0,79]) remained the same compared to the one of the basic script?</a:t>
            </a:r>
            <a:endParaRPr lang="en-US" sz="1600" i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1847528" y="1218111"/>
            <a:ext cx="81724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nl-NL" sz="2400" kern="0"/>
              <a:t>1-part model – output in console – </a:t>
            </a:r>
            <a:r>
              <a:rPr lang="nl-NL" sz="2400" kern="0" err="1"/>
              <a:t>age</a:t>
            </a:r>
            <a:r>
              <a:rPr lang="nl-NL" sz="2400" kern="0"/>
              <a:t> </a:t>
            </a:r>
            <a:r>
              <a:rPr lang="nl-NL" sz="2400" kern="0" err="1"/>
              <a:t>and</a:t>
            </a:r>
            <a:r>
              <a:rPr lang="nl-NL" sz="2400" kern="0"/>
              <a:t> </a:t>
            </a:r>
            <a:r>
              <a:rPr lang="nl-NL" sz="2400" kern="0" err="1"/>
              <a:t>percentiles</a:t>
            </a:r>
            <a:endParaRPr lang="nl-NL" sz="2400" ker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9676C4-3D9F-8518-AEB3-58C8051AE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1-part model daily intakes (Manual, chapter 3)</a:t>
            </a:r>
            <a:endParaRPr lang="nl-NL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F3066BC-8A00-068A-FD0D-3817F76B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99058" y="6543489"/>
            <a:ext cx="3752850" cy="264272"/>
          </a:xfrm>
        </p:spPr>
        <p:txBody>
          <a:bodyPr/>
          <a:lstStyle/>
          <a:p>
            <a:pPr algn="l"/>
            <a:r>
              <a:rPr lang="nl-NL"/>
              <a:t>SPADE course, July 8-9, 2025</a:t>
            </a:r>
          </a:p>
        </p:txBody>
      </p:sp>
    </p:spTree>
    <p:extLst>
      <p:ext uri="{BB962C8B-B14F-4D97-AF65-F5344CB8AC3E}">
        <p14:creationId xmlns:p14="http://schemas.microsoft.com/office/powerpoint/2010/main" val="3732775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5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9058" y="1970244"/>
            <a:ext cx="8172450" cy="4281488"/>
          </a:xfrm>
        </p:spPr>
        <p:txBody>
          <a:bodyPr/>
          <a:lstStyle/>
          <a:p>
            <a:pPr marL="342900" indent="-342900">
              <a:buFont typeface="+mj-lt"/>
              <a:buAutoNum type="alphaLcParenR"/>
            </a:pPr>
            <a:r>
              <a:rPr lang="en-US"/>
              <a:t>Run the same model, while adding the survey weights (</a:t>
            </a:r>
            <a:r>
              <a:rPr lang="en-US" err="1">
                <a:solidFill>
                  <a:schemeClr val="tx2"/>
                </a:solidFill>
              </a:rPr>
              <a:t>w_demog_season_wk_wknd</a:t>
            </a:r>
            <a:r>
              <a:rPr lang="en-US"/>
              <a:t>). </a:t>
            </a:r>
            <a:r>
              <a:rPr lang="nl-NL" err="1"/>
              <a:t>Compare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</a:t>
            </a:r>
            <a:r>
              <a:rPr lang="nl-NL" err="1"/>
              <a:t>results</a:t>
            </a:r>
            <a:r>
              <a:rPr lang="nl-NL"/>
              <a:t> </a:t>
            </a:r>
            <a:r>
              <a:rPr lang="nl-NL" err="1"/>
              <a:t>with</a:t>
            </a:r>
            <a:r>
              <a:rPr lang="nl-NL"/>
              <a:t> </a:t>
            </a:r>
            <a:r>
              <a:rPr lang="nl-NL" err="1"/>
              <a:t>excercise</a:t>
            </a:r>
            <a:r>
              <a:rPr lang="nl-NL"/>
              <a:t> 4. </a:t>
            </a:r>
            <a:r>
              <a:rPr lang="nl-NL" err="1"/>
              <a:t>Don’t</a:t>
            </a:r>
            <a:r>
              <a:rPr lang="nl-NL"/>
              <a:t> </a:t>
            </a:r>
            <a:r>
              <a:rPr lang="nl-NL" err="1"/>
              <a:t>forget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change </a:t>
            </a:r>
            <a:r>
              <a:rPr lang="nl-NL" err="1"/>
              <a:t>the</a:t>
            </a:r>
            <a:r>
              <a:rPr lang="nl-NL"/>
              <a:t> output name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be</a:t>
            </a:r>
            <a:r>
              <a:rPr lang="nl-NL"/>
              <a:t> </a:t>
            </a:r>
            <a:r>
              <a:rPr lang="nl-NL" err="1"/>
              <a:t>able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compare</a:t>
            </a:r>
            <a:r>
              <a:rPr lang="nl-NL"/>
              <a:t> </a:t>
            </a:r>
            <a:r>
              <a:rPr lang="nl-NL" err="1"/>
              <a:t>results</a:t>
            </a:r>
            <a:endParaRPr lang="nl-NL"/>
          </a:p>
          <a:p>
            <a:pPr marL="0" indent="0">
              <a:buNone/>
            </a:pPr>
            <a:endParaRPr lang="nl-NL"/>
          </a:p>
          <a:p>
            <a:pPr marL="0" indent="0">
              <a:buNone/>
            </a:pPr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49752-7E27-2730-E97A-267F1942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1-part model daily intakes (Manual, chapter 3)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1D4862-02F6-9316-0747-2FB755B00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nl-NL"/>
              <a:t>SPADE course, July 8-9, 2025</a:t>
            </a:r>
          </a:p>
        </p:txBody>
      </p:sp>
    </p:spTree>
    <p:extLst>
      <p:ext uri="{BB962C8B-B14F-4D97-AF65-F5344CB8AC3E}">
        <p14:creationId xmlns:p14="http://schemas.microsoft.com/office/powerpoint/2010/main" val="3907294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03F6F-653A-4CE1-B0DE-C9F154C29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1" y="1052515"/>
            <a:ext cx="8192691" cy="948047"/>
          </a:xfrm>
        </p:spPr>
        <p:txBody>
          <a:bodyPr anchor="b">
            <a:normAutofit/>
          </a:bodyPr>
          <a:lstStyle/>
          <a:p>
            <a:r>
              <a:rPr lang="nl-NL" err="1"/>
              <a:t>Exercise</a:t>
            </a:r>
            <a:r>
              <a:rPr lang="nl-NL"/>
              <a:t>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B1152-C3CB-4640-874C-8777CB522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38900" y="6221415"/>
            <a:ext cx="3754042" cy="32207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8FC21E99-CB6E-4E1C-8709-25BF64FEA530}" type="slidenum">
              <a:rPr lang="nl-NL" smtClean="0"/>
              <a:pPr>
                <a:spcAft>
                  <a:spcPts val="600"/>
                </a:spcAft>
              </a:pPr>
              <a:t>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77BD05-5288-FBE4-0610-9B907C2D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0250" y="6221415"/>
            <a:ext cx="3752850" cy="322075"/>
          </a:xfrm>
        </p:spPr>
        <p:txBody>
          <a:bodyPr/>
          <a:lstStyle/>
          <a:p>
            <a:r>
              <a:rPr lang="en-US"/>
              <a:t>SPADE 1-part model daily intakes (Manual, chapter 3)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C000D-EEB8-3E35-0DF5-90D7655293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00250" y="6543489"/>
            <a:ext cx="3752850" cy="264272"/>
          </a:xfrm>
        </p:spPr>
        <p:txBody>
          <a:bodyPr/>
          <a:lstStyle/>
          <a:p>
            <a:pPr algn="l"/>
            <a:r>
              <a:rPr lang="nl-NL"/>
              <a:t>SPADE course, July 8-9, 2025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4D0D3D7-2420-683E-AA5F-D3EC80679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417D46"/>
                </a:solidFill>
                <a:latin typeface="Consolas" panose="020B0609020204030204" pitchFamily="49" charset="0"/>
              </a:rPr>
              <a:t># </a:t>
            </a:r>
            <a:r>
              <a:rPr lang="nl-NL" sz="1800" err="1">
                <a:solidFill>
                  <a:srgbClr val="417D46"/>
                </a:solidFill>
                <a:latin typeface="Consolas" panose="020B0609020204030204" pitchFamily="49" charset="0"/>
              </a:rPr>
              <a:t>Excercise</a:t>
            </a:r>
            <a:r>
              <a:rPr lang="nl-NL" sz="1800">
                <a:solidFill>
                  <a:srgbClr val="417D46"/>
                </a:solidFill>
                <a:latin typeface="Consolas" panose="020B0609020204030204" pitchFamily="49" charset="0"/>
              </a:rPr>
              <a:t> 5</a:t>
            </a:r>
            <a:endParaRPr lang="nl-NL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417D46"/>
                </a:solidFill>
                <a:latin typeface="Consolas" panose="020B0609020204030204" pitchFamily="49" charset="0"/>
              </a:rPr>
              <a:t># 1-part model SPADE- 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>
                <a:solidFill>
                  <a:srgbClr val="417D46"/>
                </a:solidFill>
                <a:latin typeface="Consolas" panose="020B0609020204030204" pitchFamily="49" charset="0"/>
              </a:rPr>
              <a:t># </a:t>
            </a:r>
            <a:r>
              <a:rPr lang="nl-NL" sz="1800" err="1">
                <a:solidFill>
                  <a:srgbClr val="417D46"/>
                </a:solidFill>
                <a:latin typeface="Consolas" panose="020B0609020204030204" pitchFamily="49" charset="0"/>
              </a:rPr>
              <a:t>with</a:t>
            </a:r>
            <a:r>
              <a:rPr lang="nl-NL" sz="1800">
                <a:solidFill>
                  <a:srgbClr val="417D46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417D46"/>
                </a:solidFill>
                <a:latin typeface="Consolas" panose="020B0609020204030204" pitchFamily="49" charset="0"/>
              </a:rPr>
              <a:t>age</a:t>
            </a:r>
            <a:r>
              <a:rPr lang="nl-NL" sz="1800">
                <a:solidFill>
                  <a:srgbClr val="417D46"/>
                </a:solidFill>
                <a:latin typeface="Consolas" panose="020B0609020204030204" pitchFamily="49" charset="0"/>
              </a:rPr>
              <a:t> classes, </a:t>
            </a:r>
            <a:r>
              <a:rPr lang="nl-NL" sz="1800" err="1">
                <a:solidFill>
                  <a:srgbClr val="417D46"/>
                </a:solidFill>
                <a:latin typeface="Consolas" panose="020B0609020204030204" pitchFamily="49" charset="0"/>
              </a:rPr>
              <a:t>percentiles</a:t>
            </a:r>
            <a:r>
              <a:rPr lang="nl-NL" sz="1800">
                <a:solidFill>
                  <a:srgbClr val="417D46"/>
                </a:solidFill>
                <a:latin typeface="Consolas" panose="020B0609020204030204" pitchFamily="49" charset="0"/>
              </a:rPr>
              <a:t>, survey </a:t>
            </a:r>
            <a:r>
              <a:rPr lang="nl-NL" sz="1800" err="1">
                <a:solidFill>
                  <a:srgbClr val="417D46"/>
                </a:solidFill>
                <a:latin typeface="Consolas" panose="020B0609020204030204" pitchFamily="49" charset="0"/>
              </a:rPr>
              <a:t>weights</a:t>
            </a:r>
            <a:endParaRPr lang="nl-NL" sz="1800">
              <a:solidFill>
                <a:srgbClr val="417D46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nl-NL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f.spade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frml.ia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= ca </a:t>
            </a:r>
            <a:r>
              <a:rPr lang="nl-NL" sz="1800">
                <a:solidFill>
                  <a:srgbClr val="A56423"/>
                </a:solidFill>
                <a:latin typeface="Consolas" panose="020B0609020204030204" pitchFamily="49" charset="0"/>
              </a:rPr>
              <a:t>~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fp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age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frml.if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NL" sz="1800">
                <a:solidFill>
                  <a:srgbClr val="4141AF"/>
                </a:solidFill>
                <a:latin typeface="Consolas" panose="020B0609020204030204" pitchFamily="49" charset="0"/>
              </a:rPr>
              <a:t>"</a:t>
            </a:r>
            <a:r>
              <a:rPr lang="nl-NL" sz="1800" err="1">
                <a:solidFill>
                  <a:srgbClr val="4141AF"/>
                </a:solidFill>
                <a:latin typeface="Consolas" panose="020B0609020204030204" pitchFamily="49" charset="0"/>
              </a:rPr>
              <a:t>no.if</a:t>
            </a:r>
            <a:r>
              <a:rPr lang="nl-NL" sz="1800">
                <a:solidFill>
                  <a:srgbClr val="4141AF"/>
                </a:solidFill>
                <a:latin typeface="Consolas" panose="020B0609020204030204" pitchFamily="49" charset="0"/>
              </a:rPr>
              <a:t>"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data    =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DNFCSmanual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min.age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1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max.age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79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sex.label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   = </a:t>
            </a:r>
            <a:r>
              <a:rPr lang="nl-NL" sz="1800">
                <a:solidFill>
                  <a:srgbClr val="4141AF"/>
                </a:solidFill>
                <a:latin typeface="Consolas" panose="020B0609020204030204" pitchFamily="49" charset="0"/>
              </a:rPr>
              <a:t>"</a:t>
            </a:r>
            <a:r>
              <a:rPr lang="nl-NL" sz="1800" err="1">
                <a:solidFill>
                  <a:srgbClr val="4141AF"/>
                </a:solidFill>
                <a:latin typeface="Consolas" panose="020B0609020204030204" pitchFamily="49" charset="0"/>
              </a:rPr>
              <a:t>female</a:t>
            </a:r>
            <a:r>
              <a:rPr lang="nl-NL" sz="1800">
                <a:solidFill>
                  <a:srgbClr val="4141AF"/>
                </a:solidFill>
                <a:latin typeface="Consolas" panose="020B0609020204030204" pitchFamily="49" charset="0"/>
              </a:rPr>
              <a:t>"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weights.name = </a:t>
            </a:r>
            <a:r>
              <a:rPr lang="en-US" sz="1800">
                <a:solidFill>
                  <a:srgbClr val="4141AF"/>
                </a:solidFill>
                <a:latin typeface="Consolas" panose="020B0609020204030204" pitchFamily="49" charset="0"/>
              </a:rPr>
              <a:t>"</a:t>
            </a:r>
            <a:r>
              <a:rPr lang="en-US" sz="1800" err="1">
                <a:solidFill>
                  <a:srgbClr val="4141AF"/>
                </a:solidFill>
                <a:latin typeface="Consolas" panose="020B0609020204030204" pitchFamily="49" charset="0"/>
              </a:rPr>
              <a:t>w_demog_season_wk_wknd</a:t>
            </a:r>
            <a:r>
              <a:rPr lang="en-US" sz="1800">
                <a:solidFill>
                  <a:srgbClr val="4141AF"/>
                </a:solidFill>
                <a:latin typeface="Consolas" panose="020B0609020204030204" pitchFamily="49" charset="0"/>
              </a:rPr>
              <a:t>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endParaRPr lang="nl-NL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age.classes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 = c(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0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13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17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50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79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prb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         = c(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1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5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10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25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50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75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90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95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99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nl-NL" sz="1800">
                <a:solidFill>
                  <a:srgbClr val="A56423"/>
                </a:solidFill>
                <a:latin typeface="Consolas" panose="020B0609020204030204" pitchFamily="49" charset="0"/>
              </a:rPr>
              <a:t>/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100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seed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        = </a:t>
            </a:r>
            <a:r>
              <a:rPr lang="nl-NL" sz="1800">
                <a:solidFill>
                  <a:srgbClr val="001E82"/>
                </a:solidFill>
                <a:latin typeface="Consolas" panose="020B0609020204030204" pitchFamily="49" charset="0"/>
              </a:rPr>
              <a:t>29062025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output.name  = </a:t>
            </a:r>
            <a:r>
              <a:rPr lang="nl-NL" sz="1800">
                <a:solidFill>
                  <a:srgbClr val="4141AF"/>
                </a:solidFill>
                <a:latin typeface="Consolas" panose="020B0609020204030204" pitchFamily="49" charset="0"/>
              </a:rPr>
              <a:t>"spade_DNFCSmanual_ca_f_1_79_weight"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800" err="1">
                <a:solidFill>
                  <a:srgbClr val="000000"/>
                </a:solidFill>
                <a:latin typeface="Consolas" panose="020B0609020204030204" pitchFamily="49" charset="0"/>
              </a:rPr>
              <a:t>spade.output.path</a:t>
            </a: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NL" sz="1800">
                <a:solidFill>
                  <a:srgbClr val="4141AF"/>
                </a:solidFill>
                <a:latin typeface="Consolas" panose="020B0609020204030204" pitchFamily="49" charset="0"/>
              </a:rPr>
              <a:t>"0_SPADE_output"</a:t>
            </a:r>
            <a:endParaRPr lang="nl-NL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8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66288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2400"/>
              <a:t>1-part model – output in console – </a:t>
            </a:r>
            <a:r>
              <a:rPr lang="nl-NL" sz="2400" err="1"/>
              <a:t>weight</a:t>
            </a:r>
            <a:endParaRPr lang="nl-NL" sz="2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6</a:t>
            </a:fld>
            <a:endParaRPr lang="nl-NL"/>
          </a:p>
        </p:txBody>
      </p:sp>
      <p:sp>
        <p:nvSpPr>
          <p:cNvPr id="3" name="TextBox 2"/>
          <p:cNvSpPr txBox="1"/>
          <p:nvPr/>
        </p:nvSpPr>
        <p:spPr>
          <a:xfrm>
            <a:off x="2021459" y="2000562"/>
            <a:ext cx="843711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=====  For extra info about model  =====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See file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spade_DNFCSmanual_ca_f_1_79_weight_details.txt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Model for intake frequency: "</a:t>
            </a:r>
            <a:r>
              <a:rPr lang="en-US" sz="1200" err="1">
                <a:latin typeface="Courier New" panose="02070309020205020404" pitchFamily="49" charset="0"/>
                <a:cs typeface="Courier New" panose="02070309020205020404" pitchFamily="49" charset="0"/>
              </a:rPr>
              <a:t>no.if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Survey weights (in column): </a:t>
            </a:r>
            <a:r>
              <a:rPr lang="en-US" sz="1200" err="1">
                <a:latin typeface="Courier New" panose="02070309020205020404" pitchFamily="49" charset="0"/>
                <a:cs typeface="Courier New" panose="02070309020205020404" pitchFamily="49" charset="0"/>
              </a:rPr>
              <a:t>w_demog_season_wk_wknd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1200" err="1">
                <a:latin typeface="Courier New" panose="02070309020205020404" pitchFamily="49" charset="0"/>
                <a:cs typeface="Courier New" panose="02070309020205020404" pitchFamily="49" charset="0"/>
              </a:rPr>
              <a:t>DNFCSmanual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 Scaled survey weights : </a:t>
            </a:r>
            <a:r>
              <a:rPr lang="en-US" sz="1200" err="1">
                <a:latin typeface="Courier New" panose="02070309020205020404" pitchFamily="49" charset="0"/>
                <a:cs typeface="Courier New" panose="02070309020205020404" pitchFamily="49" charset="0"/>
              </a:rPr>
              <a:t>w_demog_season_wk_wknd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with sum weights = 4340.98658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Attention: weights present, the standard errors of the fitted models are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not valid use e.g. </a:t>
            </a:r>
            <a:r>
              <a:rPr lang="en-US" sz="1200" err="1">
                <a:latin typeface="Courier New" panose="02070309020205020404" pitchFamily="49" charset="0"/>
                <a:cs typeface="Courier New" panose="02070309020205020404" pitchFamily="49" charset="0"/>
              </a:rPr>
              <a:t>f.spade.bootstrap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sz="1200" i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 on use of survey weights</a:t>
            </a:r>
          </a:p>
          <a:p>
            <a:endParaRPr lang="en-US" sz="1200" i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i="1">
                <a:latin typeface="Courier New" panose="02070309020205020404" pitchFamily="49" charset="0"/>
                <a:cs typeface="Courier New" panose="02070309020205020404" pitchFamily="49" charset="0"/>
              </a:rPr>
              <a:t>* * *  Statistics of observed and habitual intakes  * * * </a:t>
            </a:r>
          </a:p>
          <a:p>
            <a:r>
              <a:rPr lang="en-US" sz="1200" i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(weighted) sample mean intake = 900.084 </a:t>
            </a:r>
          </a:p>
          <a:p>
            <a:r>
              <a:rPr lang="en-US" sz="1200" i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overall mean of habitual intakes = 889.672 </a:t>
            </a:r>
          </a:p>
          <a:p>
            <a:r>
              <a:rPr lang="en-US" sz="1200" i="1">
                <a:latin typeface="Courier New" panose="02070309020205020404" pitchFamily="49" charset="0"/>
                <a:cs typeface="Courier New" panose="02070309020205020404" pitchFamily="49" charset="0"/>
              </a:rPr>
              <a:t>    difference of mean HI mean from (weighted) sample mean = -1.157 % </a:t>
            </a:r>
          </a:p>
          <a:p>
            <a:endParaRPr lang="en-US" sz="1200" i="1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also weighted mean of observed intake is presented</a:t>
            </a:r>
          </a:p>
          <a:p>
            <a:endParaRPr lang="en-US" sz="1200" i="1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NL" sz="1200" i="1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F4411-C50A-5ED2-635C-98BA7A428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1-part model daily intakes (Manual, chapter 3)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9F9F1B-07DC-BF44-A984-1E7C83350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nl-NL"/>
              <a:t>SPADE course, July 8-9, 2025</a:t>
            </a:r>
          </a:p>
        </p:txBody>
      </p:sp>
    </p:spTree>
    <p:extLst>
      <p:ext uri="{BB962C8B-B14F-4D97-AF65-F5344CB8AC3E}">
        <p14:creationId xmlns:p14="http://schemas.microsoft.com/office/powerpoint/2010/main" val="4200918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7</a:t>
            </a:fld>
            <a:endParaRPr lang="nl-NL"/>
          </a:p>
        </p:txBody>
      </p:sp>
      <p:sp>
        <p:nvSpPr>
          <p:cNvPr id="3" name="TextBox 2"/>
          <p:cNvSpPr txBox="1"/>
          <p:nvPr/>
        </p:nvSpPr>
        <p:spPr>
          <a:xfrm>
            <a:off x="2020887" y="1988840"/>
            <a:ext cx="843711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spade output table for  ca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AM  P1  P5 P10 P25 P50  P75  P90  P95  P99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(0,79]  890 355 475 548 686 863 1062 1266 1399 1668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(0,13]  715 279 376 434 545 690  856 1027 1139 1375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(13,17] 786 331 427 488 607 763  937 1114 1230 1477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(17,50] 906 385 505 575 708 879 1074 1272 1402 1666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(50,79] 958 423 545 618 757 931 1129 1333 1465 1733</a:t>
            </a:r>
            <a:endParaRPr lang="nl-NL" sz="1600" i="1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 </a:t>
            </a:r>
            <a:r>
              <a:rPr lang="nl-NL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only</a:t>
            </a:r>
            <a:r>
              <a:rPr lang="nl-NL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presented</a:t>
            </a:r>
            <a:r>
              <a:rPr lang="nl-NL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nl-NL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age-groups</a:t>
            </a:r>
            <a:r>
              <a:rPr lang="nl-NL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nl-NL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defined</a:t>
            </a:r>
            <a:r>
              <a:rPr lang="nl-NL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br>
              <a:rPr lang="nl-NL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9-13, 14-17 </a:t>
            </a:r>
            <a:r>
              <a:rPr lang="nl-NL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nl-NL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18-30 </a:t>
            </a:r>
            <a:r>
              <a:rPr lang="nl-NL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yr</a:t>
            </a:r>
            <a:endParaRPr lang="nl-NL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 overall </a:t>
            </a:r>
            <a:r>
              <a:rPr lang="nl-NL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nl-NL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</a:t>
            </a:r>
            <a:r>
              <a:rPr lang="nl-NL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1-79 </a:t>
            </a:r>
            <a:r>
              <a:rPr lang="nl-NL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yr</a:t>
            </a:r>
            <a:endParaRPr lang="nl-NL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NL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Results</a:t>
            </a:r>
            <a:r>
              <a:rPr lang="nl-NL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different </a:t>
            </a:r>
            <a:r>
              <a:rPr lang="nl-NL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previous</a:t>
            </a:r>
            <a:r>
              <a:rPr lang="nl-NL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un-weigthed</a:t>
            </a:r>
            <a:r>
              <a:rPr lang="nl-NL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analysis</a:t>
            </a:r>
          </a:p>
          <a:p>
            <a:endParaRPr lang="en-US" sz="1200" i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i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i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1847528" y="1218111"/>
            <a:ext cx="81724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nl-NL" sz="2400" kern="0"/>
              <a:t>1-part model – output in console – </a:t>
            </a:r>
            <a:r>
              <a:rPr lang="nl-NL" sz="2400" kern="0" err="1"/>
              <a:t>weight</a:t>
            </a:r>
            <a:endParaRPr lang="nl-NL" sz="2400" ker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63A08-D248-90AA-3881-B0B259DA0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1-part model daily intakes (Manual, chapter 3)</a:t>
            </a:r>
            <a:endParaRPr lang="nl-NL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42948B5-ACD4-D542-95B6-39848827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nl-NL"/>
              <a:t>SPADE course, July 8-9, 2025</a:t>
            </a:r>
          </a:p>
        </p:txBody>
      </p:sp>
    </p:spTree>
    <p:extLst>
      <p:ext uri="{BB962C8B-B14F-4D97-AF65-F5344CB8AC3E}">
        <p14:creationId xmlns:p14="http://schemas.microsoft.com/office/powerpoint/2010/main" val="3853302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73FF-6E7C-4C0C-9FA8-AFD47AAF6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4681F-1BD7-4254-A275-8B7822BC2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lphaLcParenR"/>
            </a:pPr>
            <a:r>
              <a:rPr lang="en-GB"/>
              <a:t>Calculate the habitual vitamin D intake distribution from foods for men aged 1-79. </a:t>
            </a:r>
          </a:p>
          <a:p>
            <a:pPr marL="342900" indent="-342900">
              <a:buFont typeface="+mj-lt"/>
              <a:buAutoNum type="alphaLcParenR"/>
            </a:pPr>
            <a:r>
              <a:rPr lang="en-GB"/>
              <a:t>Re-calculate the habitual vitamin D intake distribution, now for men aged 1-3, 4-6, 7-10, 11-14, 15-17, 18-50 and 51-79 year olds. Provide the P2,5, P5, P10, P25, P50, P75, P90, P95 and P97,5 and use survey weights. </a:t>
            </a:r>
          </a:p>
          <a:p>
            <a:pPr marL="342900" indent="-342900">
              <a:buFont typeface="+mj-lt"/>
              <a:buAutoNum type="alphaLcParenR"/>
            </a:pPr>
            <a:r>
              <a:rPr lang="en-GB"/>
              <a:t>What is the median vitamin D intake of each age class, and do these differ?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0759F1-F385-4D0C-850F-12D2FC882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8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6C0B8-7466-0DDE-9BB9-CED41DBB9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1-part model daily intakes (Manual, chapter 3)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9B3FD5-0FD9-1FB3-DCAD-0051B83E3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nl-NL"/>
              <a:t>SPADE course, July 8-9, 2025</a:t>
            </a:r>
          </a:p>
        </p:txBody>
      </p:sp>
    </p:spTree>
    <p:extLst>
      <p:ext uri="{BB962C8B-B14F-4D97-AF65-F5344CB8AC3E}">
        <p14:creationId xmlns:p14="http://schemas.microsoft.com/office/powerpoint/2010/main" val="1292845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4063E-9348-44DE-B101-8410F8447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612" y="476673"/>
            <a:ext cx="8192691" cy="948047"/>
          </a:xfrm>
        </p:spPr>
        <p:txBody>
          <a:bodyPr anchor="b">
            <a:normAutofit/>
          </a:bodyPr>
          <a:lstStyle/>
          <a:p>
            <a:r>
              <a:rPr lang="nl-NL" err="1"/>
              <a:t>Exercise</a:t>
            </a:r>
            <a:r>
              <a:rPr lang="nl-NL"/>
              <a:t> 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0807B-EA90-4111-8B66-D646E7351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38900" y="6221415"/>
            <a:ext cx="3754042" cy="32207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8FC21E99-CB6E-4E1C-8709-25BF64FEA530}" type="slidenum">
              <a:rPr lang="nl-NL" smtClean="0"/>
              <a:pPr>
                <a:spcAft>
                  <a:spcPts val="600"/>
                </a:spcAft>
              </a:pPr>
              <a:t>9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C13F05-F380-4072-AB14-9817F80B2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1-part model daily intakes (Manual, chapter 3)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CA2CD-06D6-789F-0974-1979E144D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nl-NL"/>
              <a:t>SPADE course, July 8-9,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7FB2A-5ED9-86F8-FE55-6C7E734EBDA0}"/>
              </a:ext>
            </a:extLst>
          </p:cNvPr>
          <p:cNvSpPr txBox="1"/>
          <p:nvPr/>
        </p:nvSpPr>
        <p:spPr>
          <a:xfrm>
            <a:off x="1999058" y="1575151"/>
            <a:ext cx="834541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417D46"/>
                </a:solidFill>
                <a:latin typeface="Consolas" panose="020B0609020204030204" pitchFamily="49" charset="0"/>
              </a:rPr>
              <a:t># 1-part model SPADE- </a:t>
            </a:r>
            <a:r>
              <a:rPr lang="en-US" b="1" err="1">
                <a:solidFill>
                  <a:srgbClr val="417D46"/>
                </a:solidFill>
                <a:latin typeface="Consolas" panose="020B0609020204030204" pitchFamily="49" charset="0"/>
              </a:rPr>
              <a:t>vitd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417D46"/>
                </a:solidFill>
                <a:latin typeface="Consolas" panose="020B0609020204030204" pitchFamily="49" charset="0"/>
              </a:rPr>
              <a:t># with age classes, percentiles, survey weights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NL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err="1">
                <a:solidFill>
                  <a:srgbClr val="000000"/>
                </a:solidFill>
                <a:latin typeface="Consolas" panose="020B0609020204030204" pitchFamily="49" charset="0"/>
              </a:rPr>
              <a:t>f.spade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err="1">
                <a:solidFill>
                  <a:srgbClr val="000000"/>
                </a:solidFill>
                <a:latin typeface="Consolas" panose="020B0609020204030204" pitchFamily="49" charset="0"/>
              </a:rPr>
              <a:t>frml.ia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NL" err="1">
                <a:solidFill>
                  <a:srgbClr val="000000"/>
                </a:solidFill>
                <a:latin typeface="Consolas" panose="020B0609020204030204" pitchFamily="49" charset="0"/>
              </a:rPr>
              <a:t>vitd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>
                <a:solidFill>
                  <a:srgbClr val="A56423"/>
                </a:solidFill>
                <a:latin typeface="Consolas" panose="020B0609020204030204" pitchFamily="49" charset="0"/>
              </a:rPr>
              <a:t>~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err="1">
                <a:solidFill>
                  <a:srgbClr val="000000"/>
                </a:solidFill>
                <a:latin typeface="Consolas" panose="020B0609020204030204" pitchFamily="49" charset="0"/>
              </a:rPr>
              <a:t>fp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NL" err="1">
                <a:solidFill>
                  <a:srgbClr val="000000"/>
                </a:solidFill>
                <a:latin typeface="Consolas" panose="020B0609020204030204" pitchFamily="49" charset="0"/>
              </a:rPr>
              <a:t>age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</a:p>
          <a:p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err="1">
                <a:solidFill>
                  <a:srgbClr val="000000"/>
                </a:solidFill>
                <a:latin typeface="Consolas" panose="020B0609020204030204" pitchFamily="49" charset="0"/>
              </a:rPr>
              <a:t>frml.if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NL">
                <a:solidFill>
                  <a:srgbClr val="4141AF"/>
                </a:solidFill>
                <a:latin typeface="Consolas" panose="020B0609020204030204" pitchFamily="49" charset="0"/>
              </a:rPr>
              <a:t>"</a:t>
            </a:r>
            <a:r>
              <a:rPr lang="nl-NL" err="1">
                <a:solidFill>
                  <a:srgbClr val="4141AF"/>
                </a:solidFill>
                <a:latin typeface="Consolas" panose="020B0609020204030204" pitchFamily="49" charset="0"/>
              </a:rPr>
              <a:t>no.if</a:t>
            </a:r>
            <a:r>
              <a:rPr lang="nl-NL">
                <a:solidFill>
                  <a:srgbClr val="4141AF"/>
                </a:solidFill>
                <a:latin typeface="Consolas" panose="020B0609020204030204" pitchFamily="49" charset="0"/>
              </a:rPr>
              <a:t>"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data    = </a:t>
            </a:r>
            <a:r>
              <a:rPr lang="nl-NL" err="1">
                <a:solidFill>
                  <a:srgbClr val="000000"/>
                </a:solidFill>
                <a:latin typeface="Consolas" panose="020B0609020204030204" pitchFamily="49" charset="0"/>
              </a:rPr>
              <a:t>DNFCSmanual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err="1">
                <a:solidFill>
                  <a:srgbClr val="000000"/>
                </a:solidFill>
                <a:latin typeface="Consolas" panose="020B0609020204030204" pitchFamily="49" charset="0"/>
              </a:rPr>
              <a:t>min.age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NL">
                <a:solidFill>
                  <a:srgbClr val="001E82"/>
                </a:solidFill>
                <a:latin typeface="Consolas" panose="020B0609020204030204" pitchFamily="49" charset="0"/>
              </a:rPr>
              <a:t>1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err="1">
                <a:solidFill>
                  <a:srgbClr val="000000"/>
                </a:solidFill>
                <a:latin typeface="Consolas" panose="020B0609020204030204" pitchFamily="49" charset="0"/>
              </a:rPr>
              <a:t>max.age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NL">
                <a:solidFill>
                  <a:srgbClr val="001E82"/>
                </a:solidFill>
                <a:latin typeface="Consolas" panose="020B0609020204030204" pitchFamily="49" charset="0"/>
              </a:rPr>
              <a:t>79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err="1">
                <a:solidFill>
                  <a:srgbClr val="000000"/>
                </a:solidFill>
                <a:latin typeface="Consolas" panose="020B0609020204030204" pitchFamily="49" charset="0"/>
              </a:rPr>
              <a:t>sex.label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   = </a:t>
            </a:r>
            <a:r>
              <a:rPr lang="nl-NL">
                <a:solidFill>
                  <a:srgbClr val="4141AF"/>
                </a:solidFill>
                <a:latin typeface="Consolas" panose="020B0609020204030204" pitchFamily="49" charset="0"/>
              </a:rPr>
              <a:t>"</a:t>
            </a:r>
            <a:r>
              <a:rPr lang="nl-NL" err="1">
                <a:solidFill>
                  <a:srgbClr val="4141AF"/>
                </a:solidFill>
                <a:latin typeface="Consolas" panose="020B0609020204030204" pitchFamily="49" charset="0"/>
              </a:rPr>
              <a:t>female</a:t>
            </a:r>
            <a:r>
              <a:rPr lang="nl-NL">
                <a:solidFill>
                  <a:srgbClr val="4141AF"/>
                </a:solidFill>
                <a:latin typeface="Consolas" panose="020B0609020204030204" pitchFamily="49" charset="0"/>
              </a:rPr>
              <a:t>"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weights.name = </a:t>
            </a:r>
            <a:r>
              <a:rPr lang="nl-NL">
                <a:solidFill>
                  <a:srgbClr val="4141AF"/>
                </a:solidFill>
                <a:latin typeface="Consolas" panose="020B0609020204030204" pitchFamily="49" charset="0"/>
              </a:rPr>
              <a:t>"</a:t>
            </a:r>
            <a:r>
              <a:rPr lang="nl-NL" err="1">
                <a:solidFill>
                  <a:srgbClr val="4141AF"/>
                </a:solidFill>
                <a:latin typeface="Consolas" panose="020B0609020204030204" pitchFamily="49" charset="0"/>
              </a:rPr>
              <a:t>w_demog_season_wk_wknd</a:t>
            </a:r>
            <a:r>
              <a:rPr lang="nl-NL">
                <a:solidFill>
                  <a:srgbClr val="4141AF"/>
                </a:solidFill>
                <a:latin typeface="Consolas" panose="020B0609020204030204" pitchFamily="49" charset="0"/>
              </a:rPr>
              <a:t>"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err="1">
                <a:solidFill>
                  <a:srgbClr val="000000"/>
                </a:solidFill>
                <a:latin typeface="Consolas" panose="020B0609020204030204" pitchFamily="49" charset="0"/>
              </a:rPr>
              <a:t>age.classes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 = c(</a:t>
            </a:r>
            <a:r>
              <a:rPr lang="nl-NL">
                <a:solidFill>
                  <a:srgbClr val="001E82"/>
                </a:solidFill>
                <a:latin typeface="Consolas" panose="020B0609020204030204" pitchFamily="49" charset="0"/>
              </a:rPr>
              <a:t>0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>
                <a:solidFill>
                  <a:srgbClr val="001E82"/>
                </a:solidFill>
                <a:latin typeface="Consolas" panose="020B0609020204030204" pitchFamily="49" charset="0"/>
              </a:rPr>
              <a:t>3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>
                <a:solidFill>
                  <a:srgbClr val="001E82"/>
                </a:solidFill>
                <a:latin typeface="Consolas" panose="020B0609020204030204" pitchFamily="49" charset="0"/>
              </a:rPr>
              <a:t>6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>
                <a:solidFill>
                  <a:srgbClr val="001E82"/>
                </a:solidFill>
                <a:latin typeface="Consolas" panose="020B0609020204030204" pitchFamily="49" charset="0"/>
              </a:rPr>
              <a:t>10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>
                <a:solidFill>
                  <a:srgbClr val="001E82"/>
                </a:solidFill>
                <a:latin typeface="Consolas" panose="020B0609020204030204" pitchFamily="49" charset="0"/>
              </a:rPr>
              <a:t>14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>
                <a:solidFill>
                  <a:srgbClr val="001E82"/>
                </a:solidFill>
                <a:latin typeface="Consolas" panose="020B0609020204030204" pitchFamily="49" charset="0"/>
              </a:rPr>
              <a:t>17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>
                <a:solidFill>
                  <a:srgbClr val="001E82"/>
                </a:solidFill>
                <a:latin typeface="Consolas" panose="020B0609020204030204" pitchFamily="49" charset="0"/>
              </a:rPr>
              <a:t>50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>
                <a:solidFill>
                  <a:srgbClr val="001E82"/>
                </a:solidFill>
                <a:latin typeface="Consolas" panose="020B0609020204030204" pitchFamily="49" charset="0"/>
              </a:rPr>
              <a:t>79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err="1">
                <a:solidFill>
                  <a:srgbClr val="000000"/>
                </a:solidFill>
                <a:latin typeface="Consolas" panose="020B0609020204030204" pitchFamily="49" charset="0"/>
              </a:rPr>
              <a:t>prb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         = c(</a:t>
            </a:r>
            <a:r>
              <a:rPr lang="nl-NL">
                <a:solidFill>
                  <a:srgbClr val="001E82"/>
                </a:solidFill>
                <a:latin typeface="Consolas" panose="020B0609020204030204" pitchFamily="49" charset="0"/>
              </a:rPr>
              <a:t>2.5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>
                <a:solidFill>
                  <a:srgbClr val="001E82"/>
                </a:solidFill>
                <a:latin typeface="Consolas" panose="020B0609020204030204" pitchFamily="49" charset="0"/>
              </a:rPr>
              <a:t>5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>
                <a:solidFill>
                  <a:srgbClr val="001E82"/>
                </a:solidFill>
                <a:latin typeface="Consolas" panose="020B0609020204030204" pitchFamily="49" charset="0"/>
              </a:rPr>
              <a:t>10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>
                <a:solidFill>
                  <a:srgbClr val="001E82"/>
                </a:solidFill>
                <a:latin typeface="Consolas" panose="020B0609020204030204" pitchFamily="49" charset="0"/>
              </a:rPr>
              <a:t>25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>
                <a:solidFill>
                  <a:srgbClr val="001E82"/>
                </a:solidFill>
                <a:latin typeface="Consolas" panose="020B0609020204030204" pitchFamily="49" charset="0"/>
              </a:rPr>
              <a:t>50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>
                <a:solidFill>
                  <a:srgbClr val="001E82"/>
                </a:solidFill>
                <a:latin typeface="Consolas" panose="020B0609020204030204" pitchFamily="49" charset="0"/>
              </a:rPr>
              <a:t>75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>
                <a:solidFill>
                  <a:srgbClr val="001E82"/>
                </a:solidFill>
                <a:latin typeface="Consolas" panose="020B0609020204030204" pitchFamily="49" charset="0"/>
              </a:rPr>
              <a:t>90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>
                <a:solidFill>
                  <a:srgbClr val="001E82"/>
                </a:solidFill>
                <a:latin typeface="Consolas" panose="020B0609020204030204" pitchFamily="49" charset="0"/>
              </a:rPr>
              <a:t>95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NL">
                <a:solidFill>
                  <a:srgbClr val="001E82"/>
                </a:solidFill>
                <a:latin typeface="Consolas" panose="020B0609020204030204" pitchFamily="49" charset="0"/>
              </a:rPr>
              <a:t>97.5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nl-NL">
                <a:solidFill>
                  <a:srgbClr val="A56423"/>
                </a:solidFill>
                <a:latin typeface="Consolas" panose="020B0609020204030204" pitchFamily="49" charset="0"/>
              </a:rPr>
              <a:t>/</a:t>
            </a:r>
            <a:r>
              <a:rPr lang="nl-NL">
                <a:solidFill>
                  <a:srgbClr val="001E82"/>
                </a:solidFill>
                <a:latin typeface="Consolas" panose="020B0609020204030204" pitchFamily="49" charset="0"/>
              </a:rPr>
              <a:t>100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err="1">
                <a:solidFill>
                  <a:srgbClr val="000000"/>
                </a:solidFill>
                <a:latin typeface="Consolas" panose="020B0609020204030204" pitchFamily="49" charset="0"/>
              </a:rPr>
              <a:t>seed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        = </a:t>
            </a:r>
            <a:r>
              <a:rPr lang="nl-NL">
                <a:solidFill>
                  <a:srgbClr val="001E82"/>
                </a:solidFill>
                <a:latin typeface="Consolas" panose="020B0609020204030204" pitchFamily="49" charset="0"/>
              </a:rPr>
              <a:t>29062025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output.name  = </a:t>
            </a:r>
            <a:r>
              <a:rPr lang="nl-NL">
                <a:solidFill>
                  <a:srgbClr val="4141AF"/>
                </a:solidFill>
                <a:latin typeface="Consolas" panose="020B0609020204030204" pitchFamily="49" charset="0"/>
              </a:rPr>
              <a:t>"spade_DNFCSmanual_vitd_f_1_79_weight"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nl-NL" err="1">
                <a:solidFill>
                  <a:srgbClr val="000000"/>
                </a:solidFill>
                <a:latin typeface="Consolas" panose="020B0609020204030204" pitchFamily="49" charset="0"/>
              </a:rPr>
              <a:t>spade.output.path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NL">
                <a:solidFill>
                  <a:srgbClr val="4141AF"/>
                </a:solidFill>
                <a:latin typeface="Consolas" panose="020B0609020204030204" pitchFamily="49" charset="0"/>
              </a:rPr>
              <a:t>"0_SPADE_output/"</a:t>
            </a:r>
            <a:endParaRPr lang="nl-NL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66334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10</a:t>
            </a:fld>
            <a:endParaRPr lang="nl-NL"/>
          </a:p>
        </p:txBody>
      </p:sp>
      <p:sp>
        <p:nvSpPr>
          <p:cNvPr id="3" name="TextBox 2"/>
          <p:cNvSpPr txBox="1"/>
          <p:nvPr/>
        </p:nvSpPr>
        <p:spPr>
          <a:xfrm>
            <a:off x="1999059" y="1772816"/>
            <a:ext cx="84371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spade output table for  </a:t>
            </a:r>
            <a:r>
              <a:rPr lang="en-US" sz="1200" err="1">
                <a:latin typeface="Courier New" panose="02070309020205020404" pitchFamily="49" charset="0"/>
                <a:cs typeface="Courier New" panose="02070309020205020404" pitchFamily="49" charset="0"/>
              </a:rPr>
              <a:t>vitd</a:t>
            </a:r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  AM P2.5 P5 P10 P25 P50 P75 P90 P95 P97.5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(0,79]   3    1  1   1   2   2   3   4   5     6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(0,3]    3    1  1   1   2   2   3   4   5     6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(3,6]    2    1  1   1   1   2   3   4   4     5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(6,10]   2    1  1   1   1   2   3   4   4     5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(10,14]  2    1  1   1   1   2   3   4   4     5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(14,17]  2    1  1   1   1   2   3   4   4     5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(17,50]  3    1  1   1   2   2   3   4   5     5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(50,79]  3    1  1   2   2   3   4   5   5     6</a:t>
            </a:r>
          </a:p>
          <a:p>
            <a:r>
              <a:rPr lang="en-US" sz="12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Median intake is the same for each age class, except for the oldest group. However, check the excel output for output with more decimals, to observe some differences.</a:t>
            </a:r>
          </a:p>
          <a:p>
            <a:endParaRPr lang="en-US" sz="1200" i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i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1847528" y="1218111"/>
            <a:ext cx="81724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nl-NL" sz="2400" kern="0" err="1"/>
              <a:t>Vitamin</a:t>
            </a:r>
            <a:r>
              <a:rPr lang="nl-NL" sz="2400" kern="0"/>
              <a:t> 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39B56-7635-3BAE-74AB-86184FD11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1-part model daily intakes (Manual, chapter 3)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59577A-3965-EE20-8AE2-711A1DF26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nl-NL"/>
              <a:t>SPADE course, July 8-9,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08E831-BC8E-DEEE-45B2-6EEFF69C6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273" y="4160802"/>
            <a:ext cx="87249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19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634CA3F5682C418397C6E4414BCDE3" ma:contentTypeVersion="8" ma:contentTypeDescription="Een nieuw document maken." ma:contentTypeScope="" ma:versionID="7e9bcdd21cead49168b6feb66b54f6a8">
  <xsd:schema xmlns:xsd="http://www.w3.org/2001/XMLSchema" xmlns:xs="http://www.w3.org/2001/XMLSchema" xmlns:p="http://schemas.microsoft.com/office/2006/metadata/properties" xmlns:ns1="http://schemas.microsoft.com/sharepoint/v3" xmlns:ns2="0577e6a0-5f74-4659-a81a-c7bdc984432d" xmlns:ns3="f5c8fe0e-f8db-4fac-9fd3-e69469f9c90b" targetNamespace="http://schemas.microsoft.com/office/2006/metadata/properties" ma:root="true" ma:fieldsID="37b75464c5427a9711a0b9a23c39bf24" ns1:_="" ns2:_="" ns3:_="">
    <xsd:import namespace="http://schemas.microsoft.com/sharepoint/v3"/>
    <xsd:import namespace="0577e6a0-5f74-4659-a81a-c7bdc984432d"/>
    <xsd:import namespace="f5c8fe0e-f8db-4fac-9fd3-e69469f9c9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Eigenschappen van het geïntegreerd beleid voor naleving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Actie van de gebruikersinterface van het geïntegreerd beleid voor naleving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77e6a0-5f74-4659-a81a-c7bdc9844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c8fe0e-f8db-4fac-9fd3-e69469f9c90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CA5631C-C858-49D9-8002-0A9ECCD3E380}"/>
</file>

<file path=customXml/itemProps2.xml><?xml version="1.0" encoding="utf-8"?>
<ds:datastoreItem xmlns:ds="http://schemas.openxmlformats.org/officeDocument/2006/customXml" ds:itemID="{9C4B3F36-DFCE-4438-B5BA-0C1C0C821FF0}"/>
</file>

<file path=customXml/itemProps3.xml><?xml version="1.0" encoding="utf-8"?>
<ds:datastoreItem xmlns:ds="http://schemas.openxmlformats.org/officeDocument/2006/customXml" ds:itemID="{1F65ADFE-D3E7-474A-BC08-51BF86DF31E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1479</Words>
  <Application>Microsoft Office PowerPoint</Application>
  <PresentationFormat>Widescreen</PresentationFormat>
  <Paragraphs>162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Consolas</vt:lpstr>
      <vt:lpstr>Courier New</vt:lpstr>
      <vt:lpstr>office theme</vt:lpstr>
      <vt:lpstr>Exercise 4</vt:lpstr>
      <vt:lpstr>Exercise 4</vt:lpstr>
      <vt:lpstr>PowerPoint Presentation</vt:lpstr>
      <vt:lpstr>Exercise 5</vt:lpstr>
      <vt:lpstr>Exercise 5</vt:lpstr>
      <vt:lpstr>1-part model – output in console – weight</vt:lpstr>
      <vt:lpstr>PowerPoint Presentation</vt:lpstr>
      <vt:lpstr>Exercise 6</vt:lpstr>
      <vt:lpstr>Exercise 6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Marjolein de Jong</cp:lastModifiedBy>
  <cp:revision>4</cp:revision>
  <dcterms:created xsi:type="dcterms:W3CDTF">2013-07-15T20:26:40Z</dcterms:created>
  <dcterms:modified xsi:type="dcterms:W3CDTF">2025-07-09T06:46:56Z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0x010100FF634CA3F5682C418397C6E4414BCDE3</vt:lpwstr>
  </property>
</Properties>
</file>